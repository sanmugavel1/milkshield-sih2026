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Core message: passive PCM/ice cooling, no continuous power. Ice latent heat 334 kJ/kg. PUF thermal conductivity 0.022-0.035 W/m.K (Verma &amp; Singh 2019). Monitoring layer is optional and secondary. All performance values are design targets - no prototype data yet.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Engineering estimate, not measured. Geometry: chamber D 0.40 m x H 0.56 m (about 70 L gross), PUF 40 mm, k 0.030 W/m.K, +25% thermal-bridge allowance, mean area 1.13 m2, UA 1.06 W/K. Pull-down Q = m cp dT = 41.2 x 3.9 x 27. Ice 334 kJ/kg, 85% utilisation. Cross-check: 30 L milk 35-&gt;17 C needs 2.2 MJ = 6.5 kg ice; Torres-Toledo 2018 report 6 kg ice cooled 30 L to 17 C in &lt;90 min. Cartridges: hold 12 h = 3, hold 6 h = 2, fresh 30 L 6 h = 8, fresh 40 L 6 h = 10, fresh 40 L 12 h = 11, hills 30 L 4 h at 25 C = 7. PCM is placed inside the milk (through a thin HDPE wall) to avoid the air-gap resistance of PCM behind the liner.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Rows follow the official SIH pointers. Nothing is measured on a prototype. Prototype BOM estimate (Rs): 60-70 L food-grade HDPE drum 600-1,200 (listings Rs 310-1,030 per 50 L); ~120 L outer drum 1,000-2,000; PUF 2-part kit 1,500-3,000; lid+EPDM gasket+latches 800-1,500; crown ring 500-1,000; 12 x 2 L HDPE cartridges 1,000-2,400; handles/fasteners 300-600; optional probe+ESP32+LED+Li-ion 900-1,600. Total about Rs 6.6-13.3 k. Only drum prices come from listings; the rest are engineering estimates pending quotes. Mass-production cost is not claimed. Benchmarks from listings: 40 L Al can about Rs 2,350 (uninsulated); 50 L PU ice box Rs 1,700-10,200.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No quantified spoilage reduction is claimed. Codex CAC/RCP 57-2004: milk not collected or used within 2 h of milking is cooled to &lt;=6 C (daily collection) or &lt;=4 C (not daily). IGNOU/eGyanKosh Dairy Technology Unit 1: chill below 4 C within 4 h; head-load 3-25 L over 3-8 km especially in hilly areas. Photo: File:MilkMan.JPG, Arne Hueckelheim, CC BY-SA 3.0, Wikimedia Commons.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Comparison uses only cited or listed facts. NDRI pail figures (37 to &lt;10 C in 30-40 min) are as reported in a KrishiKosh thesis abstract surfaced by search; full text not retrieved. Pail cost from DST article. 40 L Al can price from trade listings. Papers verified by DOI via Crossref. Minim et al. gives milk cp 3.4-4.1 kJ/kg.K and density 1012-1050 kg/m3 (design uses 3.9 and 1.03). No IEEE paper cited: none directly relevant identified.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title page with details filled. PS 26110, Hardware, Agriculture FoodTech &amp; Rural Development. Team ID and Team Name are placeholders - fill from the SIH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hyperlink" Target="https://creativecommons.org/licenses/by-sa/3.0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i.org/10.1016/j.ijrefrig.2018.04.001" TargetMode="External"/><Relationship Id="rId5" Type="http://schemas.openxmlformats.org/officeDocument/2006/relationships/hyperlink" Target="https://doi.org/10.1016/j.ifset.2022.103112" TargetMode="External"/><Relationship Id="rId6" Type="http://schemas.openxmlformats.org/officeDocument/2006/relationships/hyperlink" Target="https://doi.org/10.1016/j.jfoodeng.2022.111223" TargetMode="External"/><Relationship Id="rId7" Type="http://schemas.openxmlformats.org/officeDocument/2006/relationships/hyperlink" Target="https://doi.org/10.1016/j.egypro.2019.02.086" TargetMode="External"/><Relationship Id="rId8" Type="http://schemas.openxmlformats.org/officeDocument/2006/relationships/hyperlink" Target="https://doi.org/10.1021/je025546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26110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Development of a Low-Cost Light-weight Milk Chilling Can for Small-Scale Dairy Farmers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Agriculture, FoodTech &amp; Rural Development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[to be filled]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[to be filled]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960120"/>
          </a:xfrm>
        </p:spPr>
        <p:txBody>
          <a:bodyPr/>
          <a:lstStyle/>
          <a:p>
            <a:pPr eaLnBrk="1" hangingPunct="1" algn="ctr"/>
            <a:r>
              <a:rPr sz="3200" b="1">
                <a:solidFill>
                  <a:srgbClr val="0B3C5D"/>
                </a:solidFill>
                <a:latin typeface="Times New Roman"/>
              </a:rPr>
              <a:t>MILKSHIELD</a:t>
            </a:r>
          </a:p>
          <a:p>
            <a:pPr algn="ctr"/>
            <a:r>
              <a:rPr sz="1800" b="1">
                <a:solidFill>
                  <a:srgbClr val="1E8C7E"/>
                </a:solidFill>
                <a:latin typeface="Times New Roman"/>
              </a:rPr>
              <a:t>Passive Cooling Milk Chilling Can, 30–40 L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184" y="1051560"/>
            <a:ext cx="54864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Wall heat-flow schematic" descr="Schematic wall section: ice/PCM cartridge in milk, liner, PUF insulation, shell, with cooling and heat-leak arrow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600200"/>
            <a:ext cx="6126480" cy="2649289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329184" y="4434840"/>
            <a:ext cx="1463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30–40 L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capacity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1847088" y="443484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4–8 °C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milk temperature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502152" y="4434840"/>
            <a:ext cx="1463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6–12 h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hold time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0056" y="4434840"/>
            <a:ext cx="1463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0 W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continuous power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29184" y="5358384"/>
            <a:ext cx="6126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i="1">
                <a:solidFill>
                  <a:srgbClr val="5B6B78"/>
                </a:solidFill>
                <a:latin typeface="Arial"/>
              </a:rPr>
              <a:t>Official requirements – design targets, not yet tested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29184" y="5742432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Optional monitoring: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2377440" y="5742432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5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Probe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3255263" y="5925312"/>
            <a:ext cx="210313" cy="0"/>
          </a:xfrm>
          <a:prstGeom prst="line">
            <a:avLst/>
          </a:prstGeom>
          <a:ln w="1905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2" name="Rounded Rectangle 15371"/>
          <p:cNvSpPr/>
          <p:nvPr/>
        </p:nvSpPr>
        <p:spPr>
          <a:xfrm>
            <a:off x="3474720" y="5742432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5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ESP32</a:t>
            </a:r>
          </a:p>
        </p:txBody>
      </p:sp>
      <p:cxnSp>
        <p:nvCxnSpPr>
          <p:cNvPr id="15373" name="Connector 15372"/>
          <p:cNvCxnSpPr/>
          <p:nvPr/>
        </p:nvCxnSpPr>
        <p:spPr>
          <a:xfrm>
            <a:off x="4352544" y="5925312"/>
            <a:ext cx="210312" cy="0"/>
          </a:xfrm>
          <a:prstGeom prst="line">
            <a:avLst/>
          </a:prstGeom>
          <a:ln w="1905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Rounded Rectangle 15373"/>
          <p:cNvSpPr/>
          <p:nvPr/>
        </p:nvSpPr>
        <p:spPr>
          <a:xfrm>
            <a:off x="4572000" y="5742432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5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LED / phone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812280" y="1097280"/>
            <a:ext cx="50474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WHAT IT IS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6812280" y="1389888"/>
            <a:ext cx="5047488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146304" indent="-146304">
              <a:spcAft>
                <a:spcPts val="600"/>
              </a:spcAft>
              <a:buChar char="•"/>
            </a:pPr>
            <a:r>
              <a:rPr sz="1500">
                <a:solidFill>
                  <a:srgbClr val="14283A"/>
                </a:solidFill>
                <a:latin typeface="Arial"/>
              </a:rPr>
              <a:t>Double-wall PUF-insulated can with a food-grade HDPE chamber</a:t>
            </a:r>
          </a:p>
          <a:p>
            <a:pPr marL="146304" indent="-146304">
              <a:spcAft>
                <a:spcPts val="0"/>
              </a:spcAft>
              <a:buChar char="•"/>
            </a:pPr>
            <a:r>
              <a:rPr sz="1500">
                <a:solidFill>
                  <a:srgbClr val="14283A"/>
                </a:solidFill>
                <a:latin typeface="Arial"/>
              </a:rPr>
              <a:t>Reusable ice/PCM cartridges sit in the milk – no compressor, no mains power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812280" y="2743200"/>
            <a:ext cx="50474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HOW IT WORKS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6812280" y="3035808"/>
            <a:ext cx="5047488" cy="141732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ctr">
              <a:spcAft>
                <a:spcPts val="0"/>
              </a:spcAft>
            </a:pPr>
            <a:r>
              <a:rPr sz="1500" i="1">
                <a:solidFill>
                  <a:srgbClr val="0B3C5D"/>
                </a:solidFill>
                <a:latin typeface="Arial"/>
              </a:rPr>
              <a:t>Passive cooling stores cooling energy in reusable PCM/ice cartridges and releases it gradually around the insulated milk chamber without continuous external power.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812280" y="4617720"/>
            <a:ext cx="50474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WHAT IS NEW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812280" y="4910328"/>
            <a:ext cx="5047488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146304" indent="-146304">
              <a:spcAft>
                <a:spcPts val="500"/>
              </a:spcAft>
              <a:buChar char="•"/>
            </a:pPr>
            <a:r>
              <a:rPr sz="1500" b="1">
                <a:solidFill>
                  <a:srgbClr val="14283A"/>
                </a:solidFill>
                <a:latin typeface="Arial"/>
              </a:rPr>
              <a:t>Modular cartridges: </a:t>
            </a:r>
            <a:r>
              <a:rPr sz="1500">
                <a:solidFill>
                  <a:srgbClr val="14283A"/>
                </a:solidFill>
                <a:latin typeface="Arial"/>
              </a:rPr>
              <a:t>capacity set per load</a:t>
            </a:r>
          </a:p>
          <a:p>
            <a:pPr marL="146304" indent="-146304">
              <a:spcAft>
                <a:spcPts val="500"/>
              </a:spcAft>
              <a:buChar char="•"/>
            </a:pPr>
            <a:r>
              <a:rPr sz="1500" b="1">
                <a:solidFill>
                  <a:srgbClr val="14283A"/>
                </a:solidFill>
                <a:latin typeface="Arial"/>
              </a:rPr>
              <a:t>Ice inside the milk: </a:t>
            </a:r>
            <a:r>
              <a:rPr sz="1500">
                <a:solidFill>
                  <a:srgbClr val="14283A"/>
                </a:solidFill>
                <a:latin typeface="Arial"/>
              </a:rPr>
              <a:t>direct, fast heat transfer</a:t>
            </a:r>
          </a:p>
          <a:p>
            <a:pPr marL="146304" indent="-146304">
              <a:spcAft>
                <a:spcPts val="0"/>
              </a:spcAft>
              <a:buChar char="•"/>
            </a:pPr>
            <a:r>
              <a:rPr sz="1500" b="1">
                <a:solidFill>
                  <a:srgbClr val="14283A"/>
                </a:solidFill>
                <a:latin typeface="Arial"/>
              </a:rPr>
              <a:t>Easy to clean: </a:t>
            </a:r>
            <a:r>
              <a:rPr sz="1500">
                <a:solidFill>
                  <a:srgbClr val="14283A"/>
                </a:solidFill>
                <a:latin typeface="Arial"/>
              </a:rPr>
              <a:t>smooth, wide-mouth liner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MILKING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strain milk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1595627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ounded Rectangle 17411"/>
          <p:cNvSpPr/>
          <p:nvPr/>
        </p:nvSpPr>
        <p:spPr>
          <a:xfrm>
            <a:off x="1737360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FILL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via strainer port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3003803" y="1517904"/>
            <a:ext cx="137161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3145535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INSERT COOLING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conditioned cartridges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4411979" y="1517904"/>
            <a:ext cx="137161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553712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SEAL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gasket + latches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820155" y="1517904"/>
            <a:ext cx="137161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5961888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PASSIVE COOLING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no power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7228331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7370063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TEMP. CHECK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probe / indicator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636507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8778239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TRANSPORT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cart · bike · vehicle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10044683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10186415" y="1143000"/>
            <a:ext cx="162763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VILLAGE COLLECTION CENTRE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swap cartridges</a:t>
            </a:r>
          </a:p>
        </p:txBody>
      </p:sp>
      <p:pic>
        <p:nvPicPr>
          <p:cNvPr id="17425" name="Section diagram" descr="Cross-section of the MilkShield can with 7 numbered callou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011680"/>
            <a:ext cx="3542097" cy="4206240"/>
          </a:xfrm>
          <a:prstGeom prst="rect">
            <a:avLst/>
          </a:prstGeom>
        </p:spPr>
      </p:pic>
      <p:sp>
        <p:nvSpPr>
          <p:cNvPr id="17426" name="Rounded Rectangle 17425"/>
          <p:cNvSpPr/>
          <p:nvPr/>
        </p:nvSpPr>
        <p:spPr>
          <a:xfrm>
            <a:off x="3703320" y="2148839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60520" y="2084831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Lid + gasket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Insulated PE lid, food-grade seal, cam latches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703320" y="267919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160520" y="2615184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Ice/PCM cartridge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Sealed 2 L food-grade HDPE, water/ice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703320" y="320954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160520" y="3145536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Inner liner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Food-grade HDPE (IS 10146) [7], smooth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703320" y="37398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160520" y="3675888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PUF insulation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≈40 mm, k ≈ 0.022–0.035 W/m·K [6]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703320" y="4270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160520" y="4206240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Outer shell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UV-stabilised rotomoulded PE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703320" y="4800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160520" y="4736592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Sensor (optional)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Probe → LED; ESP32 logger optional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703320" y="53309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160520" y="5266944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Handles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Moulded-in, low centre of gravity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703320" y="5870448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B3C5D"/>
                </a:solidFill>
                <a:latin typeface="Arial"/>
              </a:rPr>
              <a:t>Made by: </a:t>
            </a:r>
            <a:r>
              <a:rPr sz="1200">
                <a:solidFill>
                  <a:srgbClr val="14283A"/>
                </a:solidFill>
                <a:latin typeface="Arial"/>
              </a:rPr>
              <a:t>rotomould shell + liner → PUF pour → assemble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412480" y="2011680"/>
            <a:ext cx="34472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THERMAL DESIGN BASIS</a:t>
            </a:r>
            <a:r>
              <a:rPr sz="1100" i="1">
                <a:solidFill>
                  <a:srgbClr val="9A6400"/>
                </a:solidFill>
                <a:latin typeface="Arial"/>
              </a:rPr>
              <a:t>  estimate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8412480" y="2331720"/>
            <a:ext cx="3447288" cy="1463040"/>
          </a:xfrm>
          <a:prstGeom prst="roundRect">
            <a:avLst>
              <a:gd name="adj" fmla="val 6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565A0"/>
                </a:solidFill>
                <a:latin typeface="Arial"/>
              </a:rPr>
              <a:t>4.3 MJ </a:t>
            </a:r>
            <a:r>
              <a:rPr sz="1200">
                <a:solidFill>
                  <a:srgbClr val="14283A"/>
                </a:solidFill>
                <a:latin typeface="Arial"/>
              </a:rPr>
              <a:t>pull-down: 41 kg milk, 35→8 °C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26A12"/>
                </a:solidFill>
                <a:latin typeface="Arial"/>
              </a:rPr>
              <a:t>1.4 MJ </a:t>
            </a:r>
            <a:r>
              <a:rPr sz="1200">
                <a:solidFill>
                  <a:srgbClr val="14283A"/>
                </a:solidFill>
                <a:latin typeface="Arial"/>
              </a:rPr>
              <a:t>heat leak: 12 h at 35 °C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C5D"/>
                </a:solidFill>
                <a:latin typeface="Arial"/>
              </a:rPr>
              <a:t>0.56 MJ </a:t>
            </a:r>
            <a:r>
              <a:rPr sz="1200">
                <a:solidFill>
                  <a:srgbClr val="14283A"/>
                </a:solidFill>
                <a:latin typeface="Arial"/>
              </a:rPr>
              <a:t>per 2 L ice cartridge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412480" y="3931920"/>
            <a:ext cx="34472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CARTRIDGES NEEDED</a:t>
            </a:r>
            <a:r>
              <a:rPr sz="1100">
                <a:solidFill>
                  <a:srgbClr val="5B6B78"/>
                </a:solidFill>
                <a:latin typeface="Arial"/>
              </a:rPr>
              <a:t>  (2 L each)</a:t>
            </a:r>
          </a:p>
        </p:txBody>
      </p:sp>
      <p:graphicFrame>
        <p:nvGraphicFramePr>
          <p:cNvPr id="17444" name="Cartridge count table"/>
          <p:cNvGraphicFramePr>
            <a:graphicFrameLocks noGrp="1"/>
          </p:cNvGraphicFramePr>
          <p:nvPr/>
        </p:nvGraphicFramePr>
        <p:xfrm>
          <a:off x="8412480" y="4251960"/>
          <a:ext cx="3447288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24328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4283A"/>
                          </a:solidFill>
                          <a:latin typeface="Arial"/>
                        </a:rPr>
                        <a:t>Hold, milk pre-chilled · 12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B3C5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4283A"/>
                          </a:solidFill>
                          <a:latin typeface="Arial"/>
                        </a:rPr>
                        <a:t>Fresh 30 L · 6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B3C5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4283A"/>
                          </a:solidFill>
                          <a:latin typeface="Arial"/>
                        </a:rPr>
                        <a:t>Fresh 40 L · 12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B3C5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17445" name="TextBox 17444"/>
          <p:cNvSpPr txBox="1"/>
          <p:nvPr/>
        </p:nvSpPr>
        <p:spPr>
          <a:xfrm>
            <a:off x="8412480" y="5623560"/>
            <a:ext cx="344728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B3C5D"/>
                </a:solidFill>
                <a:latin typeface="Arial"/>
              </a:rPr>
              <a:t>Fresh-milk pull-down is ≈¾ of the load, so cartridge count sets capacity.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B6B78"/>
                </a:solidFill>
                <a:latin typeface="Arial"/>
              </a:rPr>
              <a:t>Assumes 35 °C, 40 mm PUF, 85 % ice use; milk cp, ρ [8].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Feasibility table"/>
          <p:cNvGraphicFramePr>
            <a:graphicFrameLocks noGrp="1"/>
          </p:cNvGraphicFramePr>
          <p:nvPr/>
        </p:nvGraphicFramePr>
        <p:xfrm>
          <a:off x="329184" y="1143000"/>
          <a:ext cx="11521440" cy="3703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46120"/>
                <a:gridCol w="3794760"/>
                <a:gridCol w="44805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Analysis of the feasibility of the idea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Cooling 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Achievable with modular cartridges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Fresh milk needs ≈3× the cooling of a 12 h hold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Size cartridges per load; test with water first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Heat leakage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Low with 40 mm PUF walls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Lid, handles and joints leak heat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Insulated lid, gasket, no metal through-paths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Weight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Manageable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Up to ≈22 kg of cartridges per trip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Carry only what the load needs; swap at collection centre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Hygiene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Food-grade HDPE, easy to clean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Milk residue, little cleaning water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Smooth liner, wide mouth, crown lifts out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Leakage · rough roads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Robust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Bumps, tipping, cartridge or lid leaks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Rotomoulded PE, gasket + latches, welded cartridges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Cost · manufacturing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Viable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Tooling cost at volume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Prototype from off-the-shelf drums; rotomould + PUF later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17411" name="Rounded Rectangle 17410"/>
          <p:cNvSpPr/>
          <p:nvPr/>
        </p:nvSpPr>
        <p:spPr>
          <a:xfrm>
            <a:off x="329184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TECHNICALLY FEASIBLE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Physics closes; prior art [1]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656332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ECONOMICALLY FEASIBLE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Prototype ≈ ₹6–13 k (est.)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983479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OPERATIONALLY FEASIBLE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Cartridges swapped at centre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310627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MANUFACTURABLE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Rotomould + PUF process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637776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SCALABLE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Cartridge count sets capacity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9184" y="1097280"/>
            <a:ext cx="3749039" cy="32918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02336" y="1097280"/>
            <a:ext cx="365759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TARGET USERS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6276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04672" y="1609344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Small &amp; marginal dairy farmers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4672" y="2121408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Village milk collection centres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2651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04672" y="2633472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Dairy cooperatives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04672" y="3145536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Rural milk transporters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3675887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04672" y="3657599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Remote / hilly / NE dairy networks</a:t>
            </a:r>
          </a:p>
        </p:txBody>
      </p:sp>
      <p:pic>
        <p:nvPicPr>
          <p:cNvPr id="17422" name="Photo: milk cans on a motorcycle, Karnal" descr="Photograph: milk vendor in Karnal, Haryana carrying uninsulated milk cans on a motorcy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27632"/>
            <a:ext cx="2560320" cy="170688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4206240" y="3364992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5B6B78"/>
                </a:solidFill>
                <a:latin typeface="Arial"/>
              </a:rPr>
              <a:t>Today: uninsulated cans. Karnal, Haryana. Photo: Arne Hückelheim, </a:t>
            </a:r>
            <a:r>
              <a:rPr sz="800" u="sng">
                <a:solidFill>
                  <a:srgbClr val="1565A0"/>
                </a:solidFill>
                <a:latin typeface="Arial"/>
                <a:hlinkClick r:id="rId5"/>
              </a:rPr>
              <a:t>CC BY-SA 3.0</a:t>
            </a:r>
            <a:r>
              <a:rPr sz="800">
                <a:solidFill>
                  <a:srgbClr val="5B6B78"/>
                </a:solidFill>
                <a:latin typeface="Arial"/>
              </a:rPr>
              <a:t>, Wikimedia Commons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06240" y="3767328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14283A"/>
                </a:solidFill>
                <a:latin typeface="Arial"/>
              </a:rPr>
              <a:t>Codex: cool to ≤6 °C (≤4 °C if not collected daily) when not collected within 2 h [4]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949440" y="1097280"/>
            <a:ext cx="4910328" cy="32918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022592" y="1097280"/>
            <a:ext cx="4818888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949440" y="157276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SOCIAL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Safe milk without electricity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Suits hilly &amp; NE villages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436608" y="157276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ECONOMIC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Reusable ice/PCM, no power bill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Fewer downgraded lots*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949440" y="303580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OPERATIONAL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Easy to clean, moulded handles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Cartridges sized per trip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436608" y="303580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ENVIRONMENTAL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No refrigerant, no diesel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Reusable cartridges, recyclable HDPE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949440" y="4498848"/>
            <a:ext cx="491032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5B6B78"/>
                </a:solidFill>
                <a:latin typeface="Arial"/>
              </a:rPr>
              <a:t>*to be measured – no spoilage reduction is claimed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9184" y="46177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MILK JOURNEY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918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C5D"/>
                </a:solidFill>
                <a:latin typeface="Arial"/>
              </a:rPr>
              <a:t>FARMER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≈35 °C at milking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235915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270662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1E8C7E"/>
          </a:solidFill>
          <a:ln w="19050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MILKSHIELD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E3F3EF"/>
                </a:solidFill>
                <a:latin typeface="Arial"/>
              </a:rPr>
              <a:t>cartridges in, sealed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473659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508406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1E8C7E"/>
          </a:solidFill>
          <a:ln w="19050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RURAL TRANSPORT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E3F3EF"/>
                </a:solidFill>
                <a:latin typeface="Arial"/>
              </a:rPr>
              <a:t>passive hold, 6–12 h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711403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746150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C5D"/>
                </a:solidFill>
                <a:latin typeface="Arial"/>
              </a:rPr>
              <a:t>COLLECTION CENTRE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check, swap cartridges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49147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83894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C5D"/>
                </a:solidFill>
                <a:latin typeface="Arial"/>
              </a:rPr>
              <a:t>DAIRY COLD CHAIN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BMC / plant chilling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29184" y="5943600"/>
            <a:ext cx="115214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B3C5D"/>
                </a:solidFill>
                <a:latin typeface="Arial"/>
              </a:rPr>
              <a:t>Scales later with the same design: </a:t>
            </a:r>
            <a:r>
              <a:rPr sz="1200">
                <a:solidFill>
                  <a:srgbClr val="5B6B78"/>
                </a:solidFill>
                <a:latin typeface="Arial"/>
              </a:rPr>
              <a:t>30–40 L → 50–100 L modular → cooperative fleets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Comparison table"/>
          <p:cNvGraphicFramePr>
            <a:graphicFrameLocks noGrp="1"/>
          </p:cNvGraphicFramePr>
          <p:nvPr/>
        </p:nvGraphicFramePr>
        <p:xfrm>
          <a:off x="329184" y="1143000"/>
          <a:ext cx="11521440" cy="25237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965960"/>
                <a:gridCol w="2834640"/>
                <a:gridCol w="2697480"/>
                <a:gridCol w="24231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Conventional can [5]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Ice-in-can prototype [1]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PCM pail, ICAR-NDRI [2,3,9]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MilkShield (proposed)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Cooling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Ice compartment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Nano-PCM jacket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Ice/PCM cartridges in milk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Power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 in use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 in use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None in use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Reported result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 cooling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30 L → 17 °C in &lt;90 min; 20 L &lt;13 °C for 12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37 → &lt;10 °C in 30–40 min (reported)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Target: 4–8 °C, 6–12 h – untested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Modular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Yes: 2–11 cartridges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≈ ₹2,350 (40 L Al)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Not reported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≈ ₹1,500–2,000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Prototype ≈ ₹6–13 k (est.)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</a:tbl>
          </a:graphicData>
        </a:graphic>
      </p:graphicFrame>
      <p:sp>
        <p:nvSpPr>
          <p:cNvPr id="17411" name="TextBox 17410"/>
          <p:cNvSpPr txBox="1"/>
          <p:nvPr/>
        </p:nvSpPr>
        <p:spPr>
          <a:xfrm>
            <a:off x="329184" y="384048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REFERENCES</a:t>
            </a:r>
          </a:p>
        </p:txBody>
      </p:sp>
      <p:sp>
        <p:nvSpPr>
          <p:cNvPr id="17412" name="References (1)"/>
          <p:cNvSpPr txBox="1"/>
          <p:nvPr/>
        </p:nvSpPr>
        <p:spPr>
          <a:xfrm>
            <a:off x="329184" y="4160520"/>
            <a:ext cx="5669280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[1] </a:t>
            </a:r>
            <a:r>
              <a:rPr sz="1050">
                <a:solidFill>
                  <a:srgbClr val="14283A"/>
                </a:solidFill>
                <a:latin typeface="Arial"/>
              </a:rPr>
              <a:t>Torres-Toledo et al., Int. J. Refrigeration 90 (2018) 22–31. </a:t>
            </a:r>
            <a:r>
              <a:rPr sz="1050" u="sng">
                <a:solidFill>
                  <a:srgbClr val="1565A0"/>
                </a:solidFill>
                <a:latin typeface="Arial"/>
                <a:hlinkClick r:id="rId4"/>
              </a:rPr>
              <a:t>doi:10.1016/j.ijrefrig.2018.04.001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[2] </a:t>
            </a:r>
            <a:r>
              <a:rPr sz="1050">
                <a:solidFill>
                  <a:srgbClr val="14283A"/>
                </a:solidFill>
                <a:latin typeface="Arial"/>
              </a:rPr>
              <a:t>Prakash et al., Innov. Food Sci. Emerg. Technol. 81 (2022) 103112. </a:t>
            </a:r>
            <a:r>
              <a:rPr sz="1050" u="sng">
                <a:solidFill>
                  <a:srgbClr val="1565A0"/>
                </a:solidFill>
                <a:latin typeface="Arial"/>
                <a:hlinkClick r:id="rId5"/>
              </a:rPr>
              <a:t>doi:10.1016/j.ifset.2022.103112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[3] </a:t>
            </a:r>
            <a:r>
              <a:rPr sz="1050">
                <a:solidFill>
                  <a:srgbClr val="14283A"/>
                </a:solidFill>
                <a:latin typeface="Arial"/>
              </a:rPr>
              <a:t>Prakash &amp; Ravindra, J. Food Eng. 337 (2023) 111223. </a:t>
            </a:r>
            <a:r>
              <a:rPr sz="1050" u="sng">
                <a:solidFill>
                  <a:srgbClr val="1565A0"/>
                </a:solidFill>
                <a:latin typeface="Arial"/>
                <a:hlinkClick r:id="rId6"/>
              </a:rPr>
              <a:t>doi:10.1016/j.jfoodeng.2022.111223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[4] </a:t>
            </a:r>
            <a:r>
              <a:rPr sz="1050">
                <a:solidFill>
                  <a:srgbClr val="14283A"/>
                </a:solidFill>
                <a:latin typeface="Arial"/>
              </a:rPr>
              <a:t>FAO/WHO Codex, Code of Hygienic Practice for Milk and Milk Products, CAC/RCP 57-2004</a:t>
            </a:r>
          </a:p>
        </p:txBody>
      </p:sp>
      <p:sp>
        <p:nvSpPr>
          <p:cNvPr id="17413" name="References (2)"/>
          <p:cNvSpPr txBox="1"/>
          <p:nvPr/>
        </p:nvSpPr>
        <p:spPr>
          <a:xfrm>
            <a:off x="6126480" y="4160520"/>
            <a:ext cx="573328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[5] </a:t>
            </a:r>
            <a:r>
              <a:rPr sz="1050">
                <a:solidFill>
                  <a:srgbClr val="14283A"/>
                </a:solidFill>
                <a:latin typeface="Arial"/>
              </a:rPr>
              <a:t>IGNOU / eGyanKosh, Dairy Technology Unit 1: Milk Collection &amp; Transportation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[6] </a:t>
            </a:r>
            <a:r>
              <a:rPr sz="1050">
                <a:solidFill>
                  <a:srgbClr val="14283A"/>
                </a:solidFill>
                <a:latin typeface="Arial"/>
              </a:rPr>
              <a:t>Verma &amp; Singh, Energy Procedia 161 (2019) 232–241. </a:t>
            </a:r>
            <a:r>
              <a:rPr sz="1050" u="sng">
                <a:solidFill>
                  <a:srgbClr val="1565A0"/>
                </a:solidFill>
                <a:latin typeface="Arial"/>
                <a:hlinkClick r:id="rId7"/>
              </a:rPr>
              <a:t>doi:10.1016/j.egypro.2019.02.086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[7] </a:t>
            </a:r>
            <a:r>
              <a:rPr sz="1050">
                <a:solidFill>
                  <a:srgbClr val="14283A"/>
                </a:solidFill>
                <a:latin typeface="Arial"/>
              </a:rPr>
              <a:t>FSSAI Packaging Regulations 2018 (IS 10146); BIS IS 1825:1983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[8] </a:t>
            </a:r>
            <a:r>
              <a:rPr sz="1050">
                <a:solidFill>
                  <a:srgbClr val="14283A"/>
                </a:solidFill>
                <a:latin typeface="Arial"/>
              </a:rPr>
              <a:t>Minim et al., J. Chem. Eng. Data 47 (2002) 1488. </a:t>
            </a:r>
            <a:r>
              <a:rPr sz="1050" u="sng">
                <a:solidFill>
                  <a:srgbClr val="1565A0"/>
                </a:solidFill>
                <a:latin typeface="Arial"/>
                <a:hlinkClick r:id="rId8"/>
              </a:rPr>
              <a:t>doi:10.1021/je025546a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[9] </a:t>
            </a:r>
            <a:r>
              <a:rPr sz="1050">
                <a:solidFill>
                  <a:srgbClr val="14283A"/>
                </a:solidFill>
                <a:latin typeface="Arial"/>
              </a:rPr>
              <a:t>DST, Govt. of India: affordable milk chilling at point of harvest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5779008"/>
            <a:ext cx="11530584" cy="457200"/>
          </a:xfrm>
          <a:prstGeom prst="roundRect">
            <a:avLst>
              <a:gd name="adj" fmla="val 15000"/>
            </a:avLst>
          </a:prstGeom>
          <a:solidFill>
            <a:srgbClr val="FFF3D1"/>
          </a:solidFill>
          <a:ln w="9525">
            <a:solidFill>
              <a:srgbClr val="9A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Arial"/>
              </a:rPr>
              <a:t>Validation status: </a:t>
            </a:r>
            <a:r>
              <a:rPr sz="1200">
                <a:solidFill>
                  <a:srgbClr val="14283A"/>
                </a:solidFill>
                <a:latin typeface="Arial"/>
              </a:rPr>
              <a:t>no experimental data yet – MilkShield figures are targets/estimates. Next: water-proxy cool-down test → heat-leak measurement → milk hold test.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